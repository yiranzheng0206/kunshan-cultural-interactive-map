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040100" cy="113442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3"/>
    <p:restoredTop sz="94668"/>
  </p:normalViewPr>
  <p:slideViewPr>
    <p:cSldViewPr snapToGrid="0">
      <p:cViewPr>
        <p:scale>
          <a:sx n="73" d="100"/>
          <a:sy n="73" d="100"/>
        </p:scale>
        <p:origin x="6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artifact: https://kunshan-cultural-interactive-map.vercel.app/</a:t>
            </a:r>
          </a:p>
          <a:p>
            <a:r>
              <a:t>App source: https://github.com/YiranZheng0206/Kunshan-Cultural-Interactive-Map (2eab8b7, 6 October 2026)</a:t>
            </a:r>
          </a:p>
          <a:p>
            <a:r>
              <a:t>Dataset source: https://github.com/JuniceLin/Kunshan-Map (86b5a69)</a:t>
            </a:r>
          </a:p>
          <a:p>
            <a:r>
              <a:t>UN SDG 11.4: https://sdgs.un.org/goals/goal11</a:t>
            </a:r>
          </a:p>
          <a:p>
            <a:r>
              <a:t>Leaflet: https://leafletjs.com/</a:t>
            </a:r>
          </a:p>
          <a:p>
            <a:r>
              <a:t>OpenStreetMap attribution: https://www.openstreetmap.org/copyright</a:t>
            </a:r>
          </a:p>
          <a:p>
            <a:r>
              <a:t>AMap: https://lbs.amap.com/</a:t>
            </a:r>
          </a:p>
          <a:p>
            <a:r>
              <a:t>Content summary checked against the supplied progress report and current repository README. Route options are prototype estimates, not live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1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295275"/>
            <a:ext cx="2381250" cy="762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80EF4A-C928-49D5-9C54-DBD6B993C5BC}"/>
              </a:ext>
            </a:extLst>
          </p:cNvPr>
          <p:cNvSpPr>
            <a:spLocks noGrp="1"/>
          </p:cNvSpPr>
          <p:nvPr/>
        </p:nvSpPr>
        <p:spPr>
          <a:xfrm>
            <a:off x="3238500" y="228600"/>
            <a:ext cx="12268200" cy="2286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rPr>
              <a:t>INFOSCI 301  FINAL GROUP PROJECT POSTER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018CC-65EC-4BA7-8183-161878471206}"/>
              </a:ext>
            </a:extLst>
          </p:cNvPr>
          <p:cNvSpPr>
            <a:spLocks noGrp="1"/>
          </p:cNvSpPr>
          <p:nvPr/>
        </p:nvSpPr>
        <p:spPr>
          <a:xfrm>
            <a:off x="3238500" y="457200"/>
            <a:ext cx="12268200" cy="6096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7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Kunshan Cultural Interactive Map for Cultural Exploration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93F7B-F8A7-437E-8C87-53D7E9060D67}"/>
              </a:ext>
            </a:extLst>
          </p:cNvPr>
          <p:cNvSpPr>
            <a:spLocks noGrp="1"/>
          </p:cNvSpPr>
          <p:nvPr/>
        </p:nvSpPr>
        <p:spPr>
          <a:xfrm>
            <a:off x="3238500" y="1104900"/>
            <a:ext cx="122682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0833" lnSpcReduction="10000"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rPr>
              <a:t>Yihong Lin [yl999]  |  Yiran Zheng [yz1011]  |  Sitong Chang [sc972]  |  Integrated app 2eab8b7  |  6 October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2D1DC-A017-4C5A-858B-E96D7A7A3F00}"/>
              </a:ext>
            </a:extLst>
          </p:cNvPr>
          <p:cNvSpPr>
            <a:spLocks noGrp="1"/>
          </p:cNvSpPr>
          <p:nvPr/>
        </p:nvSpPr>
        <p:spPr>
          <a:xfrm>
            <a:off x="3238500" y="1343025"/>
            <a:ext cx="122682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6389" lnSpcReduction="10000"/>
          </a:bodyPr>
          <a:lstStyle/>
          <a:p>
            <a:pPr algn="l">
              <a:lnSpc>
                <a:spcPct val="100000"/>
              </a:lnSpc>
              <a:buNone/>
              <a:defRPr sz="1125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Duke Kunshan University | INFOSCI 301 | Autumn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7BA101-63DD-4842-BFD2-38AC032473F7}"/>
              </a:ext>
            </a:extLst>
          </p:cNvPr>
          <p:cNvSpPr>
            <a:spLocks noGrp="1"/>
          </p:cNvSpPr>
          <p:nvPr/>
        </p:nvSpPr>
        <p:spPr>
          <a:xfrm>
            <a:off x="3238500" y="1571625"/>
            <a:ext cx="122682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6389" lnSpcReduction="10000"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Instructor: Prof. Luyao Zhang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48D868F-A6CF-4250-B4E9-CC360F169344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14973300" cy="0"/>
          </a:xfrm>
          <a:prstGeom prst="line">
            <a:avLst/>
          </a:prstGeom>
          <a:noFill/>
          <a:ln w="28575">
            <a:solidFill>
              <a:srgbClr val="0053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0470D4A-07B6-47F6-9781-72923ACA7C68}"/>
              </a:ext>
            </a:extLst>
          </p:cNvPr>
          <p:cNvSpPr>
            <a:spLocks noGrp="1"/>
          </p:cNvSpPr>
          <p:nvPr/>
        </p:nvSpPr>
        <p:spPr>
          <a:xfrm>
            <a:off x="4543425" y="2076450"/>
            <a:ext cx="0" cy="7753350"/>
          </a:xfrm>
          <a:prstGeom prst="line">
            <a:avLst/>
          </a:prstGeom>
          <a:noFill/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4F0939F-2203-4F71-9064-87FE7E1ED29A}"/>
              </a:ext>
            </a:extLst>
          </p:cNvPr>
          <p:cNvSpPr>
            <a:spLocks noGrp="1"/>
          </p:cNvSpPr>
          <p:nvPr/>
        </p:nvSpPr>
        <p:spPr>
          <a:xfrm>
            <a:off x="11610975" y="2076450"/>
            <a:ext cx="0" cy="7753350"/>
          </a:xfrm>
          <a:prstGeom prst="line">
            <a:avLst/>
          </a:prstGeom>
          <a:noFill/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10492A-6216-46C7-A972-28A3B0B5DFAF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rPr>
              <a:t>Project frame and evidence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ED065BB-C0B7-4B86-9C53-4EAAFF330AF0}"/>
              </a:ext>
            </a:extLst>
          </p:cNvPr>
          <p:cNvSpPr>
            <a:spLocks noGrp="1"/>
          </p:cNvSpPr>
          <p:nvPr/>
        </p:nvSpPr>
        <p:spPr>
          <a:xfrm>
            <a:off x="533400" y="2419350"/>
            <a:ext cx="3857625" cy="0"/>
          </a:xfrm>
          <a:prstGeom prst="line">
            <a:avLst/>
          </a:prstGeom>
          <a:noFill/>
          <a:ln w="19050">
            <a:solidFill>
              <a:srgbClr val="0053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4D42F1-13CB-4618-B9F2-82471425BB76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Question: How can visitors explore Kunshan through cultural records, evidence, and place?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AB1A72-F883-4A0D-88D3-846F5E12D287}"/>
              </a:ext>
            </a:extLst>
          </p:cNvPr>
          <p:cNvSpPr>
            <a:spLocks noGrp="1"/>
          </p:cNvSpPr>
          <p:nvPr/>
        </p:nvSpPr>
        <p:spPr>
          <a:xfrm>
            <a:off x="533400" y="3057525"/>
            <a:ext cx="3857625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Intended users: visitors, newcomers, students, and interested residents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3D80C0-D2A8-45F9-9B56-2BD69068DD4C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38576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Exact task: use the tutorial, inspect records and sources, save stops, then compare route options.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C9E88E-4699-46F2-AA56-368534C3E1A4}"/>
              </a:ext>
            </a:extLst>
          </p:cNvPr>
          <p:cNvSpPr>
            <a:spLocks noGrp="1"/>
          </p:cNvSpPr>
          <p:nvPr/>
        </p:nvSpPr>
        <p:spPr>
          <a:xfrm>
            <a:off x="533400" y="4029075"/>
            <a:ext cx="3857625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7222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Local context: A bilingual prototype supports discovery; residents and cultural stewards have not yet been consulted.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378C1A-A85C-4770-9F89-4FF7904183C9}"/>
              </a:ext>
            </a:extLst>
          </p:cNvPr>
          <p:cNvSpPr>
            <a:spLocks noGrp="1"/>
          </p:cNvSpPr>
          <p:nvPr/>
        </p:nvSpPr>
        <p:spPr>
          <a:xfrm>
            <a:off x="533400" y="4638675"/>
            <a:ext cx="3857625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0833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Claim: The prototype combines 82 cultural records, 67 source-linked relationships, and three schematic route options.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10929-28EE-4ACB-A561-848FBC8C9C4A}"/>
              </a:ext>
            </a:extLst>
          </p:cNvPr>
          <p:cNvSpPr>
            <a:spLocks noGrp="1"/>
          </p:cNvSpPr>
          <p:nvPr/>
        </p:nvSpPr>
        <p:spPr>
          <a:xfrm>
            <a:off x="533400" y="5162550"/>
            <a:ext cx="3857625" cy="628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Evidence boundary:  Coverage, coordinates, rights, usability, route validity, and community impact remain unverified.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214901-592B-4D25-9C5C-4CD3E0009053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C84E00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C84E00"/>
                </a:solidFill>
                <a:latin typeface="Nimbus Sans"/>
                <a:ea typeface="Nimbus Sans"/>
                <a:cs typeface="Nimbus Sans"/>
              </a:rPr>
              <a:t>Five representations, one task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5C9B122-003B-4397-AD13-7DCAAE792A6A}"/>
              </a:ext>
            </a:extLst>
          </p:cNvPr>
          <p:cNvSpPr>
            <a:spLocks noGrp="1"/>
          </p:cNvSpPr>
          <p:nvPr/>
        </p:nvSpPr>
        <p:spPr>
          <a:xfrm>
            <a:off x="533400" y="6229350"/>
            <a:ext cx="3857625" cy="0"/>
          </a:xfrm>
          <a:prstGeom prst="line">
            <a:avLst/>
          </a:prstGeom>
          <a:noFill/>
          <a:ln w="19050">
            <a:solidFill>
              <a:srgbClr val="C84E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CF2ADD1-7478-40D0-B55B-0A3B7D69A00E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3857625" cy="495300"/>
          </a:xfrm>
          <a:prstGeom prst="roundRect">
            <a:avLst>
              <a:gd name="adj" fmla="val 9615"/>
            </a:avLst>
          </a:prstGeom>
          <a:solidFill>
            <a:srgbClr val="F9ECE6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0EC2EF-C634-4929-BE88-EA85E01FF9E1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Basic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7F11F-60AA-4826-B197-FD846C2C5A72}"/>
              </a:ext>
            </a:extLst>
          </p:cNvPr>
          <p:cNvSpPr>
            <a:spLocks noGrp="1"/>
          </p:cNvSpPr>
          <p:nvPr/>
        </p:nvSpPr>
        <p:spPr>
          <a:xfrm>
            <a:off x="1790700" y="6400800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Bilingual cards + category chart; 82 curated records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47C405E-239B-47FF-97E5-AE89D63D29FA}"/>
              </a:ext>
            </a:extLst>
          </p:cNvPr>
          <p:cNvSpPr>
            <a:spLocks noGrp="1"/>
          </p:cNvSpPr>
          <p:nvPr/>
        </p:nvSpPr>
        <p:spPr>
          <a:xfrm>
            <a:off x="533400" y="6886575"/>
            <a:ext cx="3857625" cy="495300"/>
          </a:xfrm>
          <a:prstGeom prst="roundRect">
            <a:avLst>
              <a:gd name="adj" fmla="val 9615"/>
            </a:avLst>
          </a:prstGeom>
          <a:solidFill>
            <a:srgbClr val="E6EFF5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D4BA2C-10E3-434F-9396-C7198E903E8D}"/>
              </a:ext>
            </a:extLst>
          </p:cNvPr>
          <p:cNvSpPr>
            <a:spLocks noGrp="1"/>
          </p:cNvSpPr>
          <p:nvPr/>
        </p:nvSpPr>
        <p:spPr>
          <a:xfrm>
            <a:off x="609600" y="695325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Network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141C47-1DF1-45C1-BE60-ACFD6DFB1BE2}"/>
              </a:ext>
            </a:extLst>
          </p:cNvPr>
          <p:cNvSpPr>
            <a:spLocks noGrp="1"/>
          </p:cNvSpPr>
          <p:nvPr/>
        </p:nvSpPr>
        <p:spPr>
          <a:xfrm>
            <a:off x="1790700" y="6943725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67 source-linked relationships; implemented network view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74FB16B-3BF1-48E7-8C2A-C2714BFA1201}"/>
              </a:ext>
            </a:extLst>
          </p:cNvPr>
          <p:cNvSpPr>
            <a:spLocks noGrp="1"/>
          </p:cNvSpPr>
          <p:nvPr/>
        </p:nvSpPr>
        <p:spPr>
          <a:xfrm>
            <a:off x="533400" y="7429500"/>
            <a:ext cx="3857625" cy="495300"/>
          </a:xfrm>
          <a:prstGeom prst="roundRect">
            <a:avLst>
              <a:gd name="adj" fmla="val 9615"/>
            </a:avLst>
          </a:prstGeom>
          <a:solidFill>
            <a:srgbClr val="F5F8E7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11CE27-2A94-4FF6-A488-63CB32CF06DF}"/>
              </a:ext>
            </a:extLst>
          </p:cNvPr>
          <p:cNvSpPr>
            <a:spLocks noGrp="1"/>
          </p:cNvSpPr>
          <p:nvPr/>
        </p:nvSpPr>
        <p:spPr>
          <a:xfrm>
            <a:off x="609600" y="7496175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Spatial or temporal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9B4102-6ACE-49F8-80A4-BBE7756EA60B}"/>
              </a:ext>
            </a:extLst>
          </p:cNvPr>
          <p:cNvSpPr>
            <a:spLocks noGrp="1"/>
          </p:cNvSpPr>
          <p:nvPr/>
        </p:nvSpPr>
        <p:spPr>
          <a:xfrm>
            <a:off x="1790700" y="7486650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Photo markers + detailed map; coordinate precision shown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97A2789-1651-4782-B0D7-9F09C54749B8}"/>
              </a:ext>
            </a:extLst>
          </p:cNvPr>
          <p:cNvSpPr>
            <a:spLocks noGrp="1"/>
          </p:cNvSpPr>
          <p:nvPr/>
        </p:nvSpPr>
        <p:spPr>
          <a:xfrm>
            <a:off x="533400" y="7972425"/>
            <a:ext cx="3857625" cy="495300"/>
          </a:xfrm>
          <a:prstGeom prst="roundRect">
            <a:avLst>
              <a:gd name="adj" fmla="val 9615"/>
            </a:avLst>
          </a:prstGeom>
          <a:solidFill>
            <a:srgbClr val="E6EDF4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EE6247-FB14-4720-8EDC-796F843807D0}"/>
              </a:ext>
            </a:extLst>
          </p:cNvPr>
          <p:cNvSpPr>
            <a:spLocks noGrp="1"/>
          </p:cNvSpPr>
          <p:nvPr/>
        </p:nvSpPr>
        <p:spPr>
          <a:xfrm>
            <a:off x="609600" y="803910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Interactive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E60A59-28E1-4B94-806C-92AEB90050AD}"/>
              </a:ext>
            </a:extLst>
          </p:cNvPr>
          <p:cNvSpPr>
            <a:spLocks noGrp="1"/>
          </p:cNvSpPr>
          <p:nvPr/>
        </p:nvSpPr>
        <p:spPr>
          <a:xfrm>
            <a:off x="1790700" y="8029575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Search, filters, source details, Map/Patterns, save/remove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517B0B7-B816-4041-8690-E0925737E557}"/>
              </a:ext>
            </a:extLst>
          </p:cNvPr>
          <p:cNvSpPr>
            <a:spLocks noGrp="1"/>
          </p:cNvSpPr>
          <p:nvPr/>
        </p:nvSpPr>
        <p:spPr>
          <a:xfrm>
            <a:off x="533400" y="8515350"/>
            <a:ext cx="3857625" cy="495300"/>
          </a:xfrm>
          <a:prstGeom prst="roundRect">
            <a:avLst>
              <a:gd name="adj" fmla="val 9615"/>
            </a:avLst>
          </a:prstGeom>
          <a:solidFill>
            <a:srgbClr val="F7F1E4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5E293F-3516-45BC-905A-D9F82A079CCE}"/>
              </a:ext>
            </a:extLst>
          </p:cNvPr>
          <p:cNvSpPr>
            <a:spLocks noGrp="1"/>
          </p:cNvSpPr>
          <p:nvPr/>
        </p:nvSpPr>
        <p:spPr>
          <a:xfrm>
            <a:off x="609600" y="8582025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Advanced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BF7D03-C18D-487B-BAE5-FC336E1FA935}"/>
              </a:ext>
            </a:extLst>
          </p:cNvPr>
          <p:cNvSpPr>
            <a:spLocks noGrp="1"/>
          </p:cNvSpPr>
          <p:nvPr/>
        </p:nvSpPr>
        <p:spPr>
          <a:xfrm>
            <a:off x="1790700" y="8572500"/>
            <a:ext cx="2524125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9523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Three route heuristics + transport estimates; not live navigation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D96A40-2DCA-4BDB-B66D-0D8B40664799}"/>
              </a:ext>
            </a:extLst>
          </p:cNvPr>
          <p:cNvSpPr>
            <a:spLocks noGrp="1"/>
          </p:cNvSpPr>
          <p:nvPr/>
        </p:nvSpPr>
        <p:spPr>
          <a:xfrm>
            <a:off x="533400" y="9124950"/>
            <a:ext cx="3857625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3438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Verified data and provenance  82 records, 67 relationships, and 13 referenced source collections. Each record includes source IDs, location precision, and image credit metadata; audit remains in progress.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7452CC-3605-4DBE-AB43-D26B1D13EB5F}"/>
              </a:ext>
            </a:extLst>
          </p:cNvPr>
          <p:cNvSpPr>
            <a:spLocks noGrp="1"/>
          </p:cNvSpPr>
          <p:nvPr/>
        </p:nvSpPr>
        <p:spPr>
          <a:xfrm>
            <a:off x="4695825" y="20955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Repository and software architecture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88736087-D41B-48F9-B35C-58BCAD348271}"/>
              </a:ext>
            </a:extLst>
          </p:cNvPr>
          <p:cNvSpPr>
            <a:spLocks noGrp="1"/>
          </p:cNvSpPr>
          <p:nvPr/>
        </p:nvSpPr>
        <p:spPr>
          <a:xfrm>
            <a:off x="4695825" y="2419350"/>
            <a:ext cx="6762750" cy="0"/>
          </a:xfrm>
          <a:prstGeom prst="line">
            <a:avLst/>
          </a:prstGeom>
          <a:noFill/>
          <a:ln w="19050">
            <a:solidFill>
              <a:srgbClr val="0121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4004DF-7176-4C43-870B-185E6CBACD6D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5268"/>
          </a:bodyPr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1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The submitted version integrates the source-linked dataset, bilingual interface, and route comparison in one prototype.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E47A762-1598-460F-A730-08D13DC724CE}"/>
              </a:ext>
            </a:extLst>
          </p:cNvPr>
          <p:cNvSpPr>
            <a:spLocks noGrp="1"/>
          </p:cNvSpPr>
          <p:nvPr/>
        </p:nvSpPr>
        <p:spPr>
          <a:xfrm>
            <a:off x="4733925" y="2924175"/>
            <a:ext cx="1162050" cy="1362075"/>
          </a:xfrm>
          <a:prstGeom prst="roundRect">
            <a:avLst>
              <a:gd name="adj" fmla="val 8197"/>
            </a:avLst>
          </a:prstGeom>
          <a:solidFill>
            <a:srgbClr val="F5F8E7"/>
          </a:solidFill>
          <a:ln w="9525">
            <a:solidFill>
              <a:srgbClr val="748500"/>
            </a:solidFill>
            <a:prstDash val="solid"/>
          </a:ln>
        </p:spPr>
        <p:txBody>
          <a:bodyPr lIns="57150" tIns="76200" rIns="57150" bIns="76200" anchor="ctr">
            <a:normAutofit fontScale="98830"/>
          </a:bodyPr>
          <a:lstStyle/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 Data and provenance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82 records + 67 relationships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13 source collections; precision labels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9FD4C98-74BB-4AC6-8869-C1F7DD0E162E}"/>
              </a:ext>
            </a:extLst>
          </p:cNvPr>
          <p:cNvSpPr>
            <a:spLocks noGrp="1"/>
          </p:cNvSpPr>
          <p:nvPr/>
        </p:nvSpPr>
        <p:spPr>
          <a:xfrm>
            <a:off x="6115050" y="2924175"/>
            <a:ext cx="1162050" cy="1362075"/>
          </a:xfrm>
          <a:prstGeom prst="roundRect">
            <a:avLst>
              <a:gd name="adj" fmla="val 8197"/>
            </a:avLst>
          </a:prstGeom>
          <a:solidFill>
            <a:srgbClr val="E6EFF5"/>
          </a:solidFill>
          <a:ln w="9525">
            <a:solidFill>
              <a:srgbClr val="00539B"/>
            </a:solidFill>
            <a:prstDash val="solid"/>
          </a:ln>
        </p:spPr>
        <p:txBody>
          <a:bodyPr lIns="57150" tIns="76200" rIns="57150" bIns="76200" anchor="ctr">
            <a:normAutofit fontScale="99313"/>
          </a:bodyPr>
          <a:lstStyle/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2 Local data and state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Bilingual fields + image assets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localStorage saves language and stops</a:t>
            </a:r>
          </a:p>
        </p:txBody>
      </p:sp>
      <p:cxnSp>
        <p:nvCxnSpPr>
          <p:cNvPr id="266" name="Straight Arrow Connector 200"/>
          <p:cNvCxnSpPr>
            <a:stCxn id="39" idx="3"/>
            <a:endCxn id="40" idx="1"/>
          </p:cNvCxnSpPr>
          <p:nvPr/>
        </p:nvCxnSpPr>
        <p:spPr>
          <a:xfrm>
            <a:off x="5895975" y="3605213"/>
            <a:ext cx="219075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091C58C-B35D-4FB7-A700-2DC3888BAB58}"/>
              </a:ext>
            </a:extLst>
          </p:cNvPr>
          <p:cNvSpPr>
            <a:spLocks noGrp="1"/>
          </p:cNvSpPr>
          <p:nvPr/>
        </p:nvSpPr>
        <p:spPr>
          <a:xfrm>
            <a:off x="7496175" y="2924175"/>
            <a:ext cx="1162050" cy="1362075"/>
          </a:xfrm>
          <a:prstGeom prst="roundRect">
            <a:avLst>
              <a:gd name="adj" fmla="val 8197"/>
            </a:avLst>
          </a:prstGeom>
          <a:solidFill>
            <a:srgbClr val="E6EDF4"/>
          </a:solidFill>
          <a:ln w="9525">
            <a:solidFill>
              <a:srgbClr val="00539B"/>
            </a:solidFill>
            <a:prstDash val="solid"/>
          </a:ln>
        </p:spPr>
        <p:txBody>
          <a:bodyPr lIns="57150" tIns="76200" rIns="57150" bIns="76200" anchor="ctr">
            <a:normAutofit fontScale="99313"/>
          </a:bodyPr>
          <a:lstStyle/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3 Logic and algorithms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app.js filters, linking, clustering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Three route heuristics</a:t>
            </a:r>
          </a:p>
        </p:txBody>
      </p:sp>
      <p:cxnSp>
        <p:nvCxnSpPr>
          <p:cNvPr id="268" name="Straight Arrow Connector 202"/>
          <p:cNvCxnSpPr>
            <a:stCxn id="40" idx="3"/>
            <a:endCxn id="42" idx="1"/>
          </p:cNvCxnSpPr>
          <p:nvPr/>
        </p:nvCxnSpPr>
        <p:spPr>
          <a:xfrm>
            <a:off x="7277100" y="3605213"/>
            <a:ext cx="219075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40E9D50-26B0-4947-B59C-DAA9AD7194E6}"/>
              </a:ext>
            </a:extLst>
          </p:cNvPr>
          <p:cNvSpPr>
            <a:spLocks noGrp="1"/>
          </p:cNvSpPr>
          <p:nvPr/>
        </p:nvSpPr>
        <p:spPr>
          <a:xfrm>
            <a:off x="8877300" y="2924175"/>
            <a:ext cx="1162050" cy="1362075"/>
          </a:xfrm>
          <a:prstGeom prst="roundRect">
            <a:avLst>
              <a:gd name="adj" fmla="val 8197"/>
            </a:avLst>
          </a:prstGeom>
          <a:solidFill>
            <a:srgbClr val="F9ECE6"/>
          </a:solidFill>
          <a:ln w="9525">
            <a:solidFill>
              <a:srgbClr val="C84E00"/>
            </a:solidFill>
            <a:prstDash val="solid"/>
          </a:ln>
        </p:spPr>
        <p:txBody>
          <a:bodyPr lIns="57150" tIns="76200" rIns="57150" bIns="76200" anchor="ctr">
            <a:normAutofit fontScale="97350"/>
          </a:bodyPr>
          <a:lstStyle/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4 Views and interaction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Landing tutorial, Map/Patterns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Details, sources, and saved stops</a:t>
            </a:r>
          </a:p>
        </p:txBody>
      </p:sp>
      <p:cxnSp>
        <p:nvCxnSpPr>
          <p:cNvPr id="270" name="Straight Arrow Connector 204"/>
          <p:cNvCxnSpPr>
            <a:stCxn id="42" idx="3"/>
            <a:endCxn id="44" idx="1"/>
          </p:cNvCxnSpPr>
          <p:nvPr/>
        </p:nvCxnSpPr>
        <p:spPr>
          <a:xfrm>
            <a:off x="8658225" y="3605213"/>
            <a:ext cx="219075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677726A-3915-40FC-8D73-8EED95302F38}"/>
              </a:ext>
            </a:extLst>
          </p:cNvPr>
          <p:cNvSpPr>
            <a:spLocks noGrp="1"/>
          </p:cNvSpPr>
          <p:nvPr/>
        </p:nvSpPr>
        <p:spPr>
          <a:xfrm>
            <a:off x="10258425" y="2924175"/>
            <a:ext cx="1162050" cy="1362075"/>
          </a:xfrm>
          <a:prstGeom prst="roundRect">
            <a:avLst>
              <a:gd name="adj" fmla="val 8197"/>
            </a:avLst>
          </a:prstGeom>
          <a:solidFill>
            <a:srgbClr val="F7F1E4"/>
          </a:solidFill>
          <a:ln w="9525">
            <a:solidFill>
              <a:srgbClr val="E89923"/>
            </a:solidFill>
            <a:prstDash val="solid"/>
          </a:ln>
        </p:spPr>
        <p:txBody>
          <a:bodyPr lIns="57150" tIns="76200" rIns="57150" bIns="76200" anchor="ctr">
            <a:normAutofit fontScale="99313"/>
          </a:bodyPr>
          <a:lstStyle/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5 Deploy and fallback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Vercel static app</a:t>
            </a:r>
          </a:p>
          <a:p>
            <a:pPr algn="ctr">
              <a:lnSpc>
                <a:spcPct val="95000"/>
              </a:lnSpc>
              <a:buNone/>
              <a:def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Cached bilingual map fallback</a:t>
            </a:r>
          </a:p>
        </p:txBody>
      </p:sp>
      <p:cxnSp>
        <p:nvCxnSpPr>
          <p:cNvPr id="272" name="Straight Arrow Connector 206"/>
          <p:cNvCxnSpPr>
            <a:stCxn id="44" idx="3"/>
            <a:endCxn id="46" idx="1"/>
          </p:cNvCxnSpPr>
          <p:nvPr/>
        </p:nvCxnSpPr>
        <p:spPr>
          <a:xfrm>
            <a:off x="10039350" y="3605213"/>
            <a:ext cx="219075" cy="0"/>
          </a:xfrm>
          <a:prstGeom prst="straightConnector1">
            <a:avLst/>
          </a:prstGeom>
          <a:ln w="19050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BF4A2D2-66E2-4CAD-94D6-3028FF2A1986}"/>
              </a:ext>
            </a:extLst>
          </p:cNvPr>
          <p:cNvSpPr>
            <a:spLocks noGrp="1"/>
          </p:cNvSpPr>
          <p:nvPr/>
        </p:nvSpPr>
        <p:spPr>
          <a:xfrm>
            <a:off x="4733925" y="4391025"/>
            <a:ext cx="6686550" cy="333375"/>
          </a:xfrm>
          <a:prstGeom prst="rect">
            <a:avLst/>
          </a:prstGeom>
          <a:solidFill>
            <a:srgbClr val="F5F5F5"/>
          </a:solidFill>
          <a:ln w="9525">
            <a:solidFill>
              <a:srgbClr val="D1D1D1"/>
            </a:solidFill>
            <a:prstDash val="solid"/>
          </a:ln>
        </p:spPr>
        <p:txBody>
          <a:bodyPr lIns="38100" tIns="28575" rIns="38100" bIns="28575" anchor="t">
            <a:normAutofit fontScale="93039" lnSpcReduction="10000"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Artifact: kunshan-cultural-interactive-map.vercel.app   App repo: YiranZheng0206/Kunshan-Cultural-Interactive-Map   Data repo: JuniceLin/Kunshan-Map   Current app: 2eab8b7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ADFA8A-BF45-48EE-9B83-947B96B04B0F}"/>
              </a:ext>
            </a:extLst>
          </p:cNvPr>
          <p:cNvSpPr>
            <a:spLocks noGrp="1"/>
          </p:cNvSpPr>
          <p:nvPr/>
        </p:nvSpPr>
        <p:spPr>
          <a:xfrm>
            <a:off x="4733925" y="4781550"/>
            <a:ext cx="66865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1"/>
            </a:solidFill>
            <a:prstDash val="solid"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Input: 82 bilingual records with sources, coordinates, and image metadata. Output: filters, Patterns views, saved stops, and route comparisons. Checks still needed: accessibility, rights, coordinates, and hosted parity.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E465FF-9FAB-4199-A24E-3296EEA0873A}"/>
              </a:ext>
            </a:extLst>
          </p:cNvPr>
          <p:cNvSpPr>
            <a:spLocks noGrp="1"/>
          </p:cNvSpPr>
          <p:nvPr/>
        </p:nvSpPr>
        <p:spPr>
          <a:xfrm>
            <a:off x="4695825" y="5457825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C84E00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C84E00"/>
                </a:solidFill>
                <a:latin typeface="Nimbus Sans"/>
                <a:ea typeface="Nimbus Sans"/>
                <a:cs typeface="Nimbus Sans"/>
              </a:rPr>
              <a:t>User-experience walkthrough and revision</a:t>
            </a:r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3BA4EC78-11B2-41BD-A028-7F9EDC296C15}"/>
              </a:ext>
            </a:extLst>
          </p:cNvPr>
          <p:cNvSpPr>
            <a:spLocks noGrp="1"/>
          </p:cNvSpPr>
          <p:nvPr/>
        </p:nvSpPr>
        <p:spPr>
          <a:xfrm>
            <a:off x="4695825" y="5781675"/>
            <a:ext cx="6762750" cy="0"/>
          </a:xfrm>
          <a:prstGeom prst="line">
            <a:avLst/>
          </a:prstGeom>
          <a:noFill/>
          <a:ln w="19050">
            <a:solidFill>
              <a:srgbClr val="C84E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D9A3E5E-F6FE-4E1E-B5AF-F2D3FC33BB7E}"/>
              </a:ext>
            </a:extLst>
          </p:cNvPr>
          <p:cNvSpPr>
            <a:spLocks noGrp="1"/>
          </p:cNvSpPr>
          <p:nvPr/>
        </p:nvSpPr>
        <p:spPr>
          <a:xfrm>
            <a:off x="10258425" y="5886450"/>
            <a:ext cx="1162050" cy="1657350"/>
          </a:xfrm>
          <a:prstGeom prst="rect">
            <a:avLst/>
          </a:prstGeom>
          <a:solidFill>
            <a:srgbClr val="F5F5F5"/>
          </a:solidFill>
          <a:ln w="9525">
            <a:solidFill>
              <a:srgbClr val="D1D1D1"/>
            </a:solidFill>
            <a:prstDash val="solid"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23577A-44E1-43B1-8A73-BBD70B3CC647}"/>
              </a:ext>
            </a:extLst>
          </p:cNvPr>
          <p:cNvSpPr>
            <a:spLocks noGrp="1"/>
          </p:cNvSpPr>
          <p:nvPr/>
        </p:nvSpPr>
        <p:spPr>
          <a:xfrm>
            <a:off x="11763375" y="2095500"/>
            <a:ext cx="37433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00539B"/>
                </a:solidFill>
                <a:latin typeface="Nimbus Sans"/>
                <a:ea typeface="Nimbus Sans"/>
                <a:cs typeface="Nimbus Sans"/>
              </a:rPr>
              <a:t>Four validation levels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658F1F3B-7FB9-48BE-89B0-568B24A35B88}"/>
              </a:ext>
            </a:extLst>
          </p:cNvPr>
          <p:cNvSpPr>
            <a:spLocks noGrp="1"/>
          </p:cNvSpPr>
          <p:nvPr/>
        </p:nvSpPr>
        <p:spPr>
          <a:xfrm>
            <a:off x="11763375" y="2419350"/>
            <a:ext cx="3743325" cy="0"/>
          </a:xfrm>
          <a:prstGeom prst="line">
            <a:avLst/>
          </a:prstGeom>
          <a:noFill/>
          <a:ln w="19050">
            <a:solidFill>
              <a:srgbClr val="0053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A18616D-6754-48AB-857B-F7E6EE5CD432}"/>
              </a:ext>
            </a:extLst>
          </p:cNvPr>
          <p:cNvSpPr>
            <a:spLocks noGrp="1"/>
          </p:cNvSpPr>
          <p:nvPr/>
        </p:nvSpPr>
        <p:spPr>
          <a:xfrm>
            <a:off x="11763375" y="2533650"/>
            <a:ext cx="37433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87361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Domain situation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Evidence: defined visitor task and formative peer feedback. Threat: no local consultation.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0577B6-DA5E-48D1-9765-200E5293C9E3}"/>
              </a:ext>
            </a:extLst>
          </p:cNvPr>
          <p:cNvSpPr>
            <a:spLocks noGrp="1"/>
          </p:cNvSpPr>
          <p:nvPr/>
        </p:nvSpPr>
        <p:spPr>
          <a:xfrm>
            <a:off x="11763375" y="3048000"/>
            <a:ext cx="37433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87361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Data and task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Evidence: 82 records and 67 sourced links. Threat: coverage, rights, and coordinates need audit.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7EBD88-E722-4653-AD9B-0BB1782029E4}"/>
              </a:ext>
            </a:extLst>
          </p:cNvPr>
          <p:cNvSpPr>
            <a:spLocks noGrp="1"/>
          </p:cNvSpPr>
          <p:nvPr/>
        </p:nvSpPr>
        <p:spPr>
          <a:xfrm>
            <a:off x="11763375" y="3562350"/>
            <a:ext cx="37433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87361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Idiom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Evidence: Map, Patterns, source details, saved routes. Threat: interpretation and accessibility untested.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397635C-3797-466F-A56D-33FDD661EB45}"/>
              </a:ext>
            </a:extLst>
          </p:cNvPr>
          <p:cNvSpPr>
            <a:spLocks noGrp="1"/>
          </p:cNvSpPr>
          <p:nvPr/>
        </p:nvSpPr>
        <p:spPr>
          <a:xfrm>
            <a:off x="11763375" y="4076700"/>
            <a:ext cx="37433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87361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Algorithm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Evidence: three heuristics and travel-mode suggestions. Threat: no live traffic, hours, or accessibility routing.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892E9F0-6798-42FE-9768-82E79B5B1F2F}"/>
              </a:ext>
            </a:extLst>
          </p:cNvPr>
          <p:cNvSpPr>
            <a:spLocks noGrp="1"/>
          </p:cNvSpPr>
          <p:nvPr/>
        </p:nvSpPr>
        <p:spPr>
          <a:xfrm>
            <a:off x="11763375" y="4762500"/>
            <a:ext cx="37433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rPr>
              <a:t>Interdisciplinary contribution</a:t>
            </a:r>
          </a:p>
        </p:txBody>
      </p:sp>
      <p:sp>
        <p:nvSpPr>
          <p:cNvPr id="73" name="Straight Connector 72">
            <a:extLst>
              <a:ext uri="{FF2B5EF4-FFF2-40B4-BE49-F238E27FC236}">
                <a16:creationId xmlns:a16="http://schemas.microsoft.com/office/drawing/2014/main" id="{CCB76395-0BA2-4348-AA1A-9EDCB6457E26}"/>
              </a:ext>
            </a:extLst>
          </p:cNvPr>
          <p:cNvSpPr>
            <a:spLocks noGrp="1"/>
          </p:cNvSpPr>
          <p:nvPr/>
        </p:nvSpPr>
        <p:spPr>
          <a:xfrm>
            <a:off x="11763375" y="5086350"/>
            <a:ext cx="3743325" cy="0"/>
          </a:xfrm>
          <a:prstGeom prst="line">
            <a:avLst/>
          </a:prstGeom>
          <a:noFill/>
          <a:ln w="19050">
            <a:solidFill>
              <a:srgbClr val="748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6284195-8E10-4CCA-BD6C-0D9CDA8761DB}"/>
              </a:ext>
            </a:extLst>
          </p:cNvPr>
          <p:cNvSpPr>
            <a:spLocks noGrp="1"/>
          </p:cNvSpPr>
          <p:nvPr/>
        </p:nvSpPr>
        <p:spPr>
          <a:xfrm>
            <a:off x="11763375" y="5143500"/>
            <a:ext cx="37433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1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Primary frontier: Human-centered spatiotemporal intelligence.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5F09355A-6843-4566-A55A-A95B48906800}"/>
              </a:ext>
            </a:extLst>
          </p:cNvPr>
          <p:cNvSpPr>
            <a:spLocks noGrp="1"/>
          </p:cNvSpPr>
          <p:nvPr/>
        </p:nvSpPr>
        <p:spPr>
          <a:xfrm>
            <a:off x="11763375" y="5581650"/>
            <a:ext cx="3743325" cy="628650"/>
          </a:xfrm>
          <a:prstGeom prst="roundRect">
            <a:avLst>
              <a:gd name="adj" fmla="val 7576"/>
            </a:avLst>
          </a:prstGeom>
          <a:solidFill>
            <a:srgbClr val="F5F8E7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AB51D72-1EF1-465D-8939-0FDD0DC22B29}"/>
              </a:ext>
            </a:extLst>
          </p:cNvPr>
          <p:cNvSpPr>
            <a:spLocks noGrp="1"/>
          </p:cNvSpPr>
          <p:nvPr/>
        </p:nvSpPr>
        <p:spPr>
          <a:xfrm>
            <a:off x="11839575" y="5638800"/>
            <a:ext cx="3590925" cy="2571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rPr>
              <a:t>Open science, data governance, and responsible AI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15A922-E289-4674-A8EE-005B9533910A}"/>
              </a:ext>
            </a:extLst>
          </p:cNvPr>
          <p:cNvSpPr>
            <a:spLocks noGrp="1"/>
          </p:cNvSpPr>
          <p:nvPr/>
        </p:nvSpPr>
        <p:spPr>
          <a:xfrm>
            <a:off x="11839575" y="5895975"/>
            <a:ext cx="3590925" cy="247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71603" lnSpcReduction="20000"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Source IDs, image credits, and precision labels are visible; rights and provenance reviews remain open.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AA093FB-1F07-471E-BA9D-0EA8CFAF44AC}"/>
              </a:ext>
            </a:extLst>
          </p:cNvPr>
          <p:cNvSpPr>
            <a:spLocks noGrp="1"/>
          </p:cNvSpPr>
          <p:nvPr/>
        </p:nvSpPr>
        <p:spPr>
          <a:xfrm>
            <a:off x="11763375" y="6257925"/>
            <a:ext cx="3743325" cy="628650"/>
          </a:xfrm>
          <a:prstGeom prst="roundRect">
            <a:avLst>
              <a:gd name="adj" fmla="val 7576"/>
            </a:avLst>
          </a:prstGeom>
          <a:solidFill>
            <a:srgbClr val="F5F8E7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12C909E-08A7-47E2-ACF0-C4A61FE34C9D}"/>
              </a:ext>
            </a:extLst>
          </p:cNvPr>
          <p:cNvSpPr>
            <a:spLocks noGrp="1"/>
          </p:cNvSpPr>
          <p:nvPr/>
        </p:nvSpPr>
        <p:spPr>
          <a:xfrm>
            <a:off x="11839575" y="6315075"/>
            <a:ext cx="3590925" cy="2571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rPr>
              <a:t>Scientific communication for emerging technologies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CCE9E2F-8F68-4F1B-8ED8-F0C027ACC11E}"/>
              </a:ext>
            </a:extLst>
          </p:cNvPr>
          <p:cNvSpPr>
            <a:spLocks noGrp="1"/>
          </p:cNvSpPr>
          <p:nvPr/>
        </p:nvSpPr>
        <p:spPr>
          <a:xfrm>
            <a:off x="11839575" y="6572250"/>
            <a:ext cx="3590925" cy="247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71603" lnSpcReduction="20000"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Bilingual landing, tutorial, map, and details support explanation; final comprehension testing remains pending.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7CC88F0-C9A4-46CA-B324-32D84D4E0E2E}"/>
              </a:ext>
            </a:extLst>
          </p:cNvPr>
          <p:cNvSpPr>
            <a:spLocks noGrp="1"/>
          </p:cNvSpPr>
          <p:nvPr/>
        </p:nvSpPr>
        <p:spPr>
          <a:xfrm>
            <a:off x="11763375" y="6934200"/>
            <a:ext cx="3743325" cy="628650"/>
          </a:xfrm>
          <a:prstGeom prst="roundRect">
            <a:avLst>
              <a:gd name="adj" fmla="val 7576"/>
            </a:avLst>
          </a:prstGeom>
          <a:solidFill>
            <a:srgbClr val="F5F8E7"/>
          </a:solidFill>
          <a:ln w="9525">
            <a:solidFill>
              <a:srgbClr val="D1D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CD5EA8E-1828-45AC-9E9A-BF153E5DD94D}"/>
              </a:ext>
            </a:extLst>
          </p:cNvPr>
          <p:cNvSpPr>
            <a:spLocks noGrp="1"/>
          </p:cNvSpPr>
          <p:nvPr/>
        </p:nvSpPr>
        <p:spPr>
          <a:xfrm>
            <a:off x="11839575" y="6991350"/>
            <a:ext cx="3590925" cy="2571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rPr>
              <a:t>Human-centered spatiotemporal intelligence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DF6272F-AE5C-4444-A099-08EEB0908876}"/>
              </a:ext>
            </a:extLst>
          </p:cNvPr>
          <p:cNvSpPr>
            <a:spLocks noGrp="1"/>
          </p:cNvSpPr>
          <p:nvPr/>
        </p:nvSpPr>
        <p:spPr>
          <a:xfrm>
            <a:off x="11839575" y="7248525"/>
            <a:ext cx="3590925" cy="2476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73127" lnSpcReduction="20000"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The map connects culture to place; approximate anchors and route estimates remain unvalidated.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18FAF59-A7A5-442C-8DF7-6BFEB3009F9D}"/>
              </a:ext>
            </a:extLst>
          </p:cNvPr>
          <p:cNvSpPr>
            <a:spLocks noGrp="1"/>
          </p:cNvSpPr>
          <p:nvPr/>
        </p:nvSpPr>
        <p:spPr>
          <a:xfrm>
            <a:off x="11763375" y="7724775"/>
            <a:ext cx="3743325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748500"/>
                </a:solidFill>
                <a:latin typeface="Nimbus Sans"/>
                <a:ea typeface="Nimbus Sans"/>
                <a:cs typeface="Nimbus Sans"/>
              </a:rPr>
              <a:t>Community-rooted global leadership</a:t>
            </a:r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65C72364-040D-4D89-8F74-553CA331A640}"/>
              </a:ext>
            </a:extLst>
          </p:cNvPr>
          <p:cNvSpPr>
            <a:spLocks noGrp="1"/>
          </p:cNvSpPr>
          <p:nvPr/>
        </p:nvSpPr>
        <p:spPr>
          <a:xfrm>
            <a:off x="11763375" y="8048625"/>
            <a:ext cx="3743325" cy="0"/>
          </a:xfrm>
          <a:prstGeom prst="line">
            <a:avLst/>
          </a:prstGeom>
          <a:noFill/>
          <a:ln w="19050">
            <a:solidFill>
              <a:srgbClr val="748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6190790-823E-4E6F-8D9F-5FB6817E9A12}"/>
              </a:ext>
            </a:extLst>
          </p:cNvPr>
          <p:cNvSpPr>
            <a:spLocks noGrp="1"/>
          </p:cNvSpPr>
          <p:nvPr/>
        </p:nvSpPr>
        <p:spPr>
          <a:xfrm>
            <a:off x="11763375" y="8105775"/>
            <a:ext cx="37433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87361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Local community or audience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Visitors, newcomers, students, and interested residents; resident and steward consultation is pending.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F1E6658-8CAE-4959-92EE-BFF1D9C35E4F}"/>
              </a:ext>
            </a:extLst>
          </p:cNvPr>
          <p:cNvSpPr>
            <a:spLocks noGrp="1"/>
          </p:cNvSpPr>
          <p:nvPr/>
        </p:nvSpPr>
        <p:spPr>
          <a:xfrm>
            <a:off x="11763375" y="8620125"/>
            <a:ext cx="3743325" cy="6381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5516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Service and accountability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The prototype supports cultural discovery; permissions, maintenance, and a correction process still need owners.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120C423-88AC-483B-8669-2344B1CCD749}"/>
              </a:ext>
            </a:extLst>
          </p:cNvPr>
          <p:cNvSpPr>
            <a:spLocks noGrp="1"/>
          </p:cNvSpPr>
          <p:nvPr/>
        </p:nvSpPr>
        <p:spPr>
          <a:xfrm>
            <a:off x="11763375" y="9277350"/>
            <a:ext cx="3743325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0278" lnSpcReduction="10000"/>
          </a:bodyPr>
          <a:lstStyle/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SDG 11.4: Sustainable Cities and Communities</a:t>
            </a:r>
          </a:p>
          <a:p>
            <a:pPr algn="l">
              <a:buNone/>
              <a:defRPr sz="1200" b="0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Curricular alignment only; no measured safeguarding or local benefit.</a:t>
            </a:r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6E5953D3-A4D2-4318-AAEC-19E83880274D}"/>
              </a:ext>
            </a:extLst>
          </p:cNvPr>
          <p:cNvSpPr>
            <a:spLocks noGrp="1"/>
          </p:cNvSpPr>
          <p:nvPr/>
        </p:nvSpPr>
        <p:spPr>
          <a:xfrm>
            <a:off x="533400" y="10048875"/>
            <a:ext cx="14973300" cy="0"/>
          </a:xfrm>
          <a:prstGeom prst="line">
            <a:avLst/>
          </a:prstGeom>
          <a:noFill/>
          <a:ln w="28575">
            <a:solidFill>
              <a:srgbClr val="0053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7D46975-10A2-4727-A513-B6C3A756A2DA}"/>
              </a:ext>
            </a:extLst>
          </p:cNvPr>
          <p:cNvSpPr>
            <a:spLocks noGrp="1"/>
          </p:cNvSpPr>
          <p:nvPr/>
        </p:nvSpPr>
        <p:spPr>
          <a:xfrm>
            <a:off x="533400" y="10163175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1709"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012169"/>
                </a:solidFill>
                <a:latin typeface="Nimbus Sans"/>
                <a:ea typeface="Nimbus Sans"/>
                <a:cs typeface="Nimbus Sans"/>
              </a:rPr>
              <a:t>CURRENT RESULT  Bilingual explorer with 82 cultural records, 67 source-linked relationships, and three schematic route modes.   LIMITATION  Routes are not live navigation; accessibility, provenance, and rights require testing.   NEXT VALIDATION  Test the updated workflow with visitors and cultural stewards.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2A35B73-EAB5-47FF-A996-B6A3F8D5429F}"/>
              </a:ext>
            </a:extLst>
          </p:cNvPr>
          <p:cNvSpPr>
            <a:spLocks noGrp="1"/>
          </p:cNvSpPr>
          <p:nvPr/>
        </p:nvSpPr>
        <p:spPr>
          <a:xfrm>
            <a:off x="533400" y="1058227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 fontScale="94068"/>
          </a:bodyPr>
          <a:lstStyle/>
          <a:p>
            <a:pPr algn="l">
              <a:lnSpc>
                <a:spcPct val="100000"/>
              </a:lnSpc>
              <a:buNone/>
              <a:defRPr sz="1050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Team roles  Yihong: system/data; Yiran: interface; Sitong: visualization/evaluation. AI-assisted drafting disclosed; the team verifies facts, rights, versions, and final claims.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E582353-37C8-41BF-B17B-858F0A6AE082}"/>
              </a:ext>
            </a:extLst>
          </p:cNvPr>
          <p:cNvSpPr>
            <a:spLocks noGrp="1"/>
          </p:cNvSpPr>
          <p:nvPr/>
        </p:nvSpPr>
        <p:spPr>
          <a:xfrm>
            <a:off x="10287000" y="10163175"/>
            <a:ext cx="52197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rmAutofit/>
          </a:bodyPr>
          <a:lstStyle/>
          <a:p>
            <a:pPr algn="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defRPr>
            </a:pPr>
            <a:r>
              <a:rPr sz="863" b="0" i="0">
                <a:solidFill>
                  <a:srgbClr val="555555"/>
                </a:solidFill>
                <a:latin typeface="Nimbus Sans"/>
                <a:ea typeface="Nimbus Sans"/>
                <a:cs typeface="Nimbus Sans"/>
              </a:rPr>
              <a:t>Sources: Munzner (2009); Dimara &amp; Perin (2020); Kunshan-Map (86b5a69); Kunshan-Cultural-Interactive-Map (2eab8b7); UN SDG 11.4; Leaflet; OpenStreetMap; AMap.</a:t>
            </a:r>
          </a:p>
        </p:txBody>
      </p:sp>
      <p:sp>
        <p:nvSpPr>
          <p:cNvPr id="159" name="visitor-task-flow">
            <a:extLst>
              <a:ext uri="{FF2B5EF4-FFF2-40B4-BE49-F238E27FC236}">
                <a16:creationId xmlns:a16="http://schemas.microsoft.com/office/drawing/2014/main" id="{8FD6F1A9-EE55-41B4-B942-14F8311EBE09}"/>
              </a:ext>
            </a:extLst>
          </p:cNvPr>
          <p:cNvSpPr>
            <a:spLocks noGrp="1"/>
          </p:cNvSpPr>
          <p:nvPr/>
        </p:nvSpPr>
        <p:spPr>
          <a:xfrm>
            <a:off x="10258425" y="5948363"/>
            <a:ext cx="1118129" cy="13477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1 Tutorial    </a:t>
            </a:r>
            <a:endParaRPr lang="en-US" sz="1000" dirty="0">
              <a:solidFill>
                <a:srgbClr val="222222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2 Search or photo marker    </a:t>
            </a:r>
            <a:endParaRPr lang="en-US" sz="1000" dirty="0">
              <a:solidFill>
                <a:srgbClr val="222222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3 Inspect source    </a:t>
            </a:r>
            <a:endParaRPr lang="en-US" sz="1000" dirty="0">
              <a:solidFill>
                <a:srgbClr val="222222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4 Compare Patterns    </a:t>
            </a:r>
            <a:endParaRPr lang="en-US" sz="1000" dirty="0">
              <a:solidFill>
                <a:srgbClr val="222222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5 Save stops    </a:t>
            </a:r>
            <a:endParaRPr lang="en-US" sz="1000" dirty="0">
              <a:solidFill>
                <a:srgbClr val="222222"/>
              </a:solidFill>
              <a:latin typeface="Nimbus Sans"/>
              <a:ea typeface="Nimbus Sans"/>
              <a:cs typeface="Nimbus Sans"/>
            </a:endParaRPr>
          </a:p>
          <a:p>
            <a:pPr>
              <a:buNone/>
              <a:defRPr sz="975">
                <a:solidFill>
                  <a:srgbClr val="222222"/>
                </a:solidFill>
                <a:latin typeface="Nimbus Sans"/>
                <a:ea typeface="Nimbus Sans"/>
                <a:cs typeface="Nimbus Sans"/>
              </a:defRPr>
            </a:pPr>
            <a:r>
              <a:rPr sz="1000" dirty="0">
                <a:solidFill>
                  <a:srgbClr val="222222"/>
                </a:solidFill>
                <a:latin typeface="Nimbus Sans"/>
                <a:ea typeface="Nimbus Sans"/>
                <a:cs typeface="Nimbus Sans"/>
              </a:rPr>
              <a:t>6 Compare routes</a:t>
            </a:r>
          </a:p>
        </p:txBody>
      </p:sp>
      <p:sp>
        <p:nvSpPr>
          <p:cNvPr id="160" name="formative-study-status">
            <a:extLst>
              <a:ext uri="{FF2B5EF4-FFF2-40B4-BE49-F238E27FC236}">
                <a16:creationId xmlns:a16="http://schemas.microsoft.com/office/drawing/2014/main" id="{B896D534-25AA-418A-8438-EC72A2292CBF}"/>
              </a:ext>
            </a:extLst>
          </p:cNvPr>
          <p:cNvSpPr>
            <a:spLocks noGrp="1"/>
          </p:cNvSpPr>
          <p:nvPr/>
        </p:nvSpPr>
        <p:spPr>
          <a:xfrm>
            <a:off x="9339960" y="7658099"/>
            <a:ext cx="2080516" cy="2222880"/>
          </a:xfrm>
          <a:prstGeom prst="rect">
            <a:avLst/>
          </a:prstGeom>
          <a:solidFill>
            <a:srgbClr val="FDEFE8"/>
          </a:solidFill>
          <a:ln w="9525">
            <a:solidFill>
              <a:srgbClr val="E97132"/>
            </a:solidFill>
            <a:prstDash val="solid"/>
          </a:ln>
        </p:spPr>
        <p:txBody>
          <a:bodyPr>
            <a:normAutofit fontScale="96046"/>
          </a:bodyPr>
          <a:lstStyle/>
          <a:p>
            <a:pPr>
              <a:buNone/>
              <a:defRPr sz="1050" b="1">
                <a:solidFill>
                  <a:srgbClr val="7A310E"/>
                </a:solidFill>
                <a:latin typeface="Nimbus Sans"/>
                <a:ea typeface="Nimbus Sans"/>
                <a:cs typeface="Nimbus Sans"/>
              </a:defRPr>
            </a:pPr>
            <a:r>
              <a:rPr sz="1400" b="1" dirty="0">
                <a:solidFill>
                  <a:srgbClr val="7A310E"/>
                </a:solidFill>
                <a:latin typeface="Nimbus Sans"/>
                <a:ea typeface="Nimbus Sans"/>
                <a:cs typeface="Nimbus Sans"/>
              </a:rPr>
              <a:t>Peer feedback led to clearer guidance, visible relationship evidence, broader route eligibility, and bilingual fixes</a:t>
            </a:r>
            <a:r>
              <a:rPr sz="1400" b="1">
                <a:solidFill>
                  <a:srgbClr val="7A310E"/>
                </a:solidFill>
                <a:latin typeface="Nimbus Sans"/>
                <a:ea typeface="Nimbus Sans"/>
                <a:cs typeface="Nimbus Sans"/>
              </a:rPr>
              <a:t>. </a:t>
            </a:r>
            <a:endParaRPr sz="1400" b="1" dirty="0">
              <a:solidFill>
                <a:srgbClr val="7A310E"/>
              </a:solidFill>
              <a:latin typeface="Nimbus Sans"/>
              <a:ea typeface="Nimbus Sans"/>
              <a:cs typeface="Nimbus Sans"/>
            </a:endParaRPr>
          </a:p>
        </p:txBody>
      </p:sp>
      <p:pic>
        <p:nvPicPr>
          <p:cNvPr id="43" name="图片 4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6171FF1-D8C5-BA12-AFE8-BB4235AF7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374" y="5874350"/>
            <a:ext cx="3289538" cy="1707550"/>
          </a:xfrm>
          <a:prstGeom prst="rect">
            <a:avLst/>
          </a:prstGeom>
        </p:spPr>
      </p:pic>
      <p:pic>
        <p:nvPicPr>
          <p:cNvPr id="47" name="图片 46" descr="地图&#10;&#10;AI 生成的内容可能不正确。">
            <a:extLst>
              <a:ext uri="{FF2B5EF4-FFF2-40B4-BE49-F238E27FC236}">
                <a16:creationId xmlns:a16="http://schemas.microsoft.com/office/drawing/2014/main" id="{6F7EEE61-4A61-C303-2BD2-BFE0726A0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365" y="7607411"/>
            <a:ext cx="4552328" cy="2281362"/>
          </a:xfrm>
          <a:prstGeom prst="rect">
            <a:avLst/>
          </a:prstGeom>
        </p:spPr>
      </p:pic>
      <p:pic>
        <p:nvPicPr>
          <p:cNvPr id="57" name="图片 56" descr="图形用户界面, 网站&#10;&#10;AI 生成的内容可能不正确。">
            <a:extLst>
              <a:ext uri="{FF2B5EF4-FFF2-40B4-BE49-F238E27FC236}">
                <a16:creationId xmlns:a16="http://schemas.microsoft.com/office/drawing/2014/main" id="{73DDD2E4-B000-39D1-A356-CFF692F8E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25" y="5886450"/>
            <a:ext cx="2148000" cy="16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02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912</Words>
  <Application>Microsoft Macintosh PowerPoint</Application>
  <DocSecurity>0</DocSecurity>
  <PresentationFormat>自定义</PresentationFormat>
  <Paragraphs>86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Nimbus Sans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Yiran Zheng</cp:lastModifiedBy>
  <cp:revision>2</cp:revision>
  <dcterms:created xsi:type="dcterms:W3CDTF">2026-10-06T11:47:55Z</dcterms:created>
  <dcterms:modified xsi:type="dcterms:W3CDTF">2026-10-06T12:03:08Z</dcterms:modified>
</cp:coreProperties>
</file>